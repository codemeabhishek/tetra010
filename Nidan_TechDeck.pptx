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We didn't call any medical API or let an AI estimate a risk number. We went to the source papers, pulled the validated formulas, and hard-coded them. That is what makes this auditable.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top to bottom. Emphasize:</a:t>
            </a:r>
          </a:p>
          <a:p>
            <a:r>
              <a:t>1) All 4 engines run in parallel — no blocking.</a:t>
            </a:r>
          </a:p>
          <a:p>
            <a:r>
              <a:t>2) The GOLD arrow: engines produce JSON, AI receives JSON. AI is an explainer, not a calculator.</a:t>
            </a:r>
          </a:p>
          <a:p>
            <a:r>
              <a:t>3) Missing investigations aggregator means the doctor gets ONE list, not four.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point: We did the hard manual work of reading these papers and coding their formulas ourselves. That is WHY the system is accurate and auditable — there is no black box API that we're hoping is correct.</a:t>
            </a:r>
          </a:p>
          <a:p>
            <a:r>
              <a:t>The code snippets shown are simplified but accurate excerpts from the actual engine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the visual proof of the manual work.</a:t>
            </a:r>
          </a:p>
          <a:p>
            <a:r>
              <a:t>Point to the KDIGO grid: 'We coded every one of these 15 coloured cells into a Python dict.'</a:t>
            </a:r>
          </a:p>
          <a:p>
            <a:r>
              <a:t>Point to WHO lab chart: 'Each of these coloured numbers is a JSON value that our engine looks up.'</a:t>
            </a:r>
          </a:p>
          <a:p>
            <a:r>
              <a:t>Point to WHO non-lab: 'This is the fallback chart — uses BMI instead of cholesterol. Our system automatically switches to this when cholesterol is missing.'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Emphasize: we never silently substitute a default value for missing data. The system tells the doctor exactly what is missing AND why it matters. The missing investigations list is de-duplicated — if two engines need creatinine, the doctor only sees one 'order creatinine'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 about test coverage: 86%. Stroke edge cases are the thinnest area.</a:t>
            </a:r>
          </a:p>
          <a:p>
            <a:r>
              <a:t>AI layer is a graceful enhancement: if the API key is absent, all 4 scoring engines still run and return full structured data — the AI explanation is additive, not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be defensive about these bugs — they show the validation process is working.</a:t>
            </a:r>
          </a:p>
          <a:p>
            <a:r>
              <a:t>Bug 2 was only catchable because we HAD the source image saved locally and could compare.</a:t>
            </a:r>
          </a:p>
          <a:p>
            <a:r>
              <a:t>Bug 3 was caught by the test suite, not manually — shows the test suite was worth building.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order:</a:t>
            </a:r>
          </a:p>
          <a:p>
            <a:r>
              <a:t>1. P03 — walk through all 4 gauges + referral banner</a:t>
            </a:r>
          </a:p>
          <a:p>
            <a:r>
              <a:t>2. P04 — show WHO chart fallback + missing investigations panel</a:t>
            </a:r>
          </a:p>
          <a:p>
            <a:r>
              <a:t>3. P06 — show calm low-risk state (system doesn't just alarm on everyone)</a:t>
            </a:r>
          </a:p>
          <a:p/>
          <a:p>
            <a:r>
              <a:t>After demo, offer to open GitHub and show /backend/scoring/ folder.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03920" y="1371600"/>
            <a:ext cx="3291840" cy="566928"/>
          </a:xfrm>
          <a:prstGeom prst="roundRect">
            <a:avLst>
              <a:gd name="adj" fmla="val 18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Diabetes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3920" y="2286000"/>
            <a:ext cx="3291840" cy="566928"/>
          </a:xfrm>
          <a:prstGeom prst="roundRect">
            <a:avLst>
              <a:gd name="adj" fmla="val 1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Hypertension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0" y="3200400"/>
            <a:ext cx="3291840" cy="566928"/>
          </a:xfrm>
          <a:prstGeom prst="roundRect">
            <a:avLst>
              <a:gd name="adj" fmla="val 18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CKD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0" y="4114800"/>
            <a:ext cx="3291840" cy="566928"/>
          </a:xfrm>
          <a:prstGeom prst="roundRect">
            <a:avLst>
              <a:gd name="adj" fmla="val 18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CVD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5029200"/>
            <a:ext cx="3291840" cy="566928"/>
          </a:xfrm>
          <a:prstGeom prst="roundRect">
            <a:avLst>
              <a:gd name="adj" fmla="val 18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Stroke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57200"/>
            <a:ext cx="5303520" cy="384048"/>
          </a:xfrm>
          <a:prstGeom prst="roundRect">
            <a:avLst>
              <a:gd name="adj" fmla="val 1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Track A  |  HealthTech  |  Problem Statement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9728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Nidan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468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B2DFDB"/>
                </a:solidFill>
                <a:latin typeface="Calibri"/>
              </a:rPr>
              <a:t>Clinical Decision Support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15468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Calibri"/>
              </a:rPr>
              <a:t>AI-powered lifestyle disease risk prediction &amp;
early referral assistant for primary care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114800"/>
            <a:ext cx="685800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29768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9688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407408"/>
            <a:ext cx="1463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Conditions covered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29768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9688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4407408"/>
            <a:ext cx="1463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Scoring engines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29768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9688"/>
                </a:solidFill>
                <a:latin typeface="Calibri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4407408"/>
            <a:ext cx="1463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External medical APIs called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Team — Tetrathon 2026  |  August 1, 2026  |  github.com/CodeMeAbhishek/TETRA010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Problem &amp;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56032"/>
            <a:ext cx="685800" cy="347472"/>
          </a:xfrm>
          <a:prstGeom prst="roundRect">
            <a:avLst>
              <a:gd name="adj" fmla="val 1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2  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5486400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548640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521208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Late diagnosis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30552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77% of lifestyle disease cases in India are only
caught when they have already worsened.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46120"/>
            <a:ext cx="521208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3375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No decision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685032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Primary health workers lack tools to screen
systematically — screening is inconsistent.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800600"/>
            <a:ext cx="521208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89204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Incomplete 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239512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Rural PHCs often have NO lab results.
System must still give useful output.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051560"/>
            <a:ext cx="5486400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051560"/>
            <a:ext cx="5486400" cy="4572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Our Approach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1691640"/>
            <a:ext cx="109728" cy="13716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178308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No external medical APIs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130552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We read the original published research papers and WHO/KDIGO guidelines,
extracted every formula and threshold, then coded them directly in Python.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3246120"/>
            <a:ext cx="109728" cy="13716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33375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Deterministic scoring engines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685032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4 independent engines run the math. Each engine cites its source. The AI layer
only explains results — it never calculates a score.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37960" y="4800600"/>
            <a:ext cx="109728" cy="13716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489204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Graceful degradation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5239512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If lab data is missing, the system automatically uses the non-lab fallback chart
and tells the doctor exactly which test to order — never guesses.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56032"/>
            <a:ext cx="685800" cy="347472"/>
          </a:xfrm>
          <a:prstGeom prst="roundRect">
            <a:avLst>
              <a:gd name="adj" fmla="val 1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3  </a:t>
            </a:r>
          </a:p>
        </p:txBody>
      </p:sp>
      <p:sp>
        <p:nvSpPr>
          <p:cNvPr id="5" name="Rectangle 4"/>
          <p:cNvSpPr/>
          <p:nvPr/>
        </p:nvSpPr>
        <p:spPr>
          <a:xfrm>
            <a:off x="3703320" y="1005840"/>
            <a:ext cx="4754880" cy="475488"/>
          </a:xfrm>
          <a:prstGeom prst="roundRect">
            <a:avLst>
              <a:gd name="adj" fmla="val 18000"/>
            </a:avLst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Frontend  —  Patient Assessment Form (HTML/JS)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80760" y="1481328"/>
            <a:ext cx="0" cy="292608"/>
          </a:xfrm>
          <a:prstGeom prst="line">
            <a:avLst/>
          </a:prstGeom>
          <a:ln w="25400">
            <a:solidFill>
              <a:srgbClr val="009688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703320" y="1773936"/>
            <a:ext cx="4754880" cy="475488"/>
          </a:xfrm>
          <a:prstGeom prst="roundRect">
            <a:avLst>
              <a:gd name="adj" fmla="val 18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FastAPI Backend  —  /analyze  endpoint (Python)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0760" y="2249424"/>
            <a:ext cx="0" cy="292608"/>
          </a:xfrm>
          <a:prstGeom prst="line">
            <a:avLst/>
          </a:prstGeom>
          <a:ln w="25400">
            <a:solidFill>
              <a:srgbClr val="009688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703320" y="2542032"/>
            <a:ext cx="4754880" cy="475488"/>
          </a:xfrm>
          <a:prstGeom prst="roundRect">
            <a:avLst>
              <a:gd name="adj" fmla="val 18000"/>
            </a:avLst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Input Checker  —  identifies which fields are present vs. missing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" y="3429000"/>
            <a:ext cx="2606040" cy="621792"/>
          </a:xfrm>
          <a:prstGeom prst="roundRect">
            <a:avLst>
              <a:gd name="adj" fmla="val 18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Diabetes
IDRS formula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79676.0" y="3017520"/>
            <a:ext cx="0.0" cy="411480"/>
          </a:xfrm>
          <a:prstGeom prst="line">
            <a:avLst/>
          </a:prstGeom>
          <a:ln w="19050">
            <a:solidFill>
              <a:srgbClr val="009688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419856" y="3429000"/>
            <a:ext cx="2606040" cy="621792"/>
          </a:xfrm>
          <a:prstGeom prst="roundRect">
            <a:avLst>
              <a:gd name="adj" fmla="val 1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Blood Pressure
ACC/AHA 2017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22876.0" y="3017520"/>
            <a:ext cx="0.0" cy="411480"/>
          </a:xfrm>
          <a:prstGeom prst="line">
            <a:avLst/>
          </a:prstGeom>
          <a:ln w="19050">
            <a:solidFill>
              <a:srgbClr val="009688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163056" y="3429000"/>
            <a:ext cx="2606040" cy="621792"/>
          </a:xfrm>
          <a:prstGeom prst="roundRect">
            <a:avLst>
              <a:gd name="adj" fmla="val 18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Heart Risk
WHO CVD charts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66076.0" y="3017520"/>
            <a:ext cx="0.0" cy="411480"/>
          </a:xfrm>
          <a:prstGeom prst="line">
            <a:avLst/>
          </a:prstGeom>
          <a:ln w="19050">
            <a:solidFill>
              <a:srgbClr val="009688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906256" y="3429000"/>
            <a:ext cx="2606040" cy="621792"/>
          </a:xfrm>
          <a:prstGeom prst="roundRect">
            <a:avLst>
              <a:gd name="adj" fmla="val 18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Kidney Risk
KDIGO 2024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209276.0" y="3017520"/>
            <a:ext cx="0.0" cy="411480"/>
          </a:xfrm>
          <a:prstGeom prst="line">
            <a:avLst/>
          </a:prstGeom>
          <a:ln w="19050">
            <a:solidFill>
              <a:srgbClr val="009688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76656" y="4142232"/>
            <a:ext cx="10835640" cy="2743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6080760" y="4142232"/>
            <a:ext cx="0" cy="292608"/>
          </a:xfrm>
          <a:prstGeom prst="line">
            <a:avLst/>
          </a:prstGeom>
          <a:ln w="25400">
            <a:solidFill>
              <a:srgbClr val="009688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703320" y="4343400"/>
            <a:ext cx="4754880" cy="475488"/>
          </a:xfrm>
          <a:prstGeom prst="roundRect">
            <a:avLst>
              <a:gd name="adj" fmla="val 18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Missing Investigations  —  de-duplicates what each engine needs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80760" y="4818888"/>
            <a:ext cx="0" cy="292608"/>
          </a:xfrm>
          <a:prstGeom prst="line">
            <a:avLst/>
          </a:prstGeom>
          <a:ln w="25400">
            <a:solidFill>
              <a:srgbClr val="009688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703320" y="5074920"/>
            <a:ext cx="4754880" cy="475488"/>
          </a:xfrm>
          <a:prstGeom prst="roundRect">
            <a:avLst>
              <a:gd name="adj" fmla="val 18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Referral Engine  —  REFER / MONITOR / ROUTINE + reason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80760" y="5586984"/>
            <a:ext cx="0" cy="201168"/>
          </a:xfrm>
          <a:prstGeom prst="line">
            <a:avLst/>
          </a:prstGeom>
          <a:ln w="38100">
            <a:solidFill>
              <a:srgbClr val="F59E0B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154680" y="5568696"/>
            <a:ext cx="5852160" cy="329184"/>
          </a:xfrm>
          <a:prstGeom prst="roundRect">
            <a:avLst>
              <a:gd name="adj" fmla="val 18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Structured JSON only passed to AI  —  AI never calculates a score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03320" y="5760720"/>
            <a:ext cx="4754880" cy="475488"/>
          </a:xfrm>
          <a:prstGeom prst="roundRect">
            <a:avLst>
              <a:gd name="adj" fmla="val 18000"/>
            </a:avLst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AI Layer (NVIDIA NIM / Claude)  —  explain  |  translate  |  draft referral note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How We Built the Scoring Engines  —  No Medical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56032"/>
            <a:ext cx="685800" cy="347472"/>
          </a:xfrm>
          <a:prstGeom prst="roundRect">
            <a:avLst>
              <a:gd name="adj" fmla="val 1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4  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11548872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11183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Every formula in this system came from reading the original published research papers, not from calling any third-party medical API.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828800"/>
            <a:ext cx="576072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828800"/>
            <a:ext cx="5760720" cy="43891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9280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Diabetes Risk  (IDRS)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695C"/>
                </a:solidFill>
                <a:latin typeface="Calibri"/>
              </a:rPr>
              <a:t>Source: ICMR-INDIAB study  |  113,043 patients across India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33472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We read the research paper and extracted a 4-factor scoring formula:
Age + Waist size + Physical activity + Family history  =  score 0 to 100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46120"/>
            <a:ext cx="539496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73552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2DFDB"/>
                </a:solidFill>
                <a:latin typeface="Courier New"/>
              </a:rPr>
              <a:t>if waist_cm &gt;= 90: score += 30   # male threshold
if age &gt;= 50:       score += 20
if sedentary:       score += 20
if family_history:  score += 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59" y="1828800"/>
            <a:ext cx="576072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59" y="1828800"/>
            <a:ext cx="5760720" cy="43891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19" y="189280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Heart Risk  (WHO CVD Charts)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19" y="233172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695C"/>
                </a:solidFill>
                <a:latin typeface="Calibri"/>
              </a:rPr>
              <a:t>Source: WHO South Asia CVD Risk Charts  —  digitised into JSON grid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19" y="2633472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We photographed and manually digitised the WHO colour risk table
(800+ cells). System looks up the right cell for each patient.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19" y="3246120"/>
            <a:ext cx="539496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59" y="3273552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2DFDB"/>
                </a:solidFill>
                <a:latin typeface="Courier New"/>
              </a:rPr>
              <a:t># No API — we digitised the chart ourselves
risk = who_cvd_grid[age_band][sex][sbp_band][cholesterol_band]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160520"/>
            <a:ext cx="576072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4160520"/>
            <a:ext cx="5760720" cy="43891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22452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Kidney Risk  (KDIGO)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66344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695C"/>
                </a:solidFill>
                <a:latin typeface="Calibri"/>
              </a:rPr>
              <a:t>Source: KDIGO 2024 Clinical Practice Guidelines  +  CKD-EPI 2021 formula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965192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We extracted the eGFR formula from the guideline and coded the
colour risk grid (G1-G5 x A1-A3 = 15 cells) directly in Python.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577840"/>
            <a:ext cx="539496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605272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2DFDB"/>
                </a:solidFill>
                <a:latin typeface="Courier New"/>
              </a:rPr>
              <a:t>eGFR = 142 * min(cr/kappa,1)**alpha * max(cr/kappa,1)**-1.200
risk_color = kdigo_grid[g_stage][a_stage]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59" y="4160520"/>
            <a:ext cx="576072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59" y="4160520"/>
            <a:ext cx="5760720" cy="43891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19" y="422452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Blood Pressure  (ACC/AHA 2017)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19" y="466344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695C"/>
                </a:solidFill>
                <a:latin typeface="Calibri"/>
              </a:rPr>
              <a:t>Source: 2017 ACC/AHA Hypertension Guideline  +  Stroke protocols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19" y="4965192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We read the guideline document and coded every BP threshold,
cross-module rule (e.g. CKD+HTN = stricter target), and stroke protocol.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19" y="5577840"/>
            <a:ext cx="539496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59" y="5605272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2DFDB"/>
                </a:solidFill>
                <a:latin typeface="Courier New"/>
              </a:rPr>
              <a:t>if sbp &gt;= 180 or dbp &gt;= 110: category = 'Stage 2 Hypertension'
elif sbp &gt;= 130:             category = 'Stage 1 Hypertension'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Source Charts We Digitised Into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56032"/>
            <a:ext cx="685800" cy="347472"/>
          </a:xfrm>
          <a:prstGeom prst="roundRect">
            <a:avLst>
              <a:gd name="adj" fmla="val 1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5  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5303520" cy="534924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789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KDIGO Kidney Risk Grid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2DFDB"/>
                </a:solidFill>
                <a:latin typeface="Calibri"/>
              </a:rPr>
              <a:t>G1-G5 (kidney function) x A1-A3 (protein in urine)  =  risk colour</a:t>
            </a:r>
          </a:p>
        </p:txBody>
      </p:sp>
      <p:pic>
        <p:nvPicPr>
          <p:cNvPr id="8" name="Picture 7" descr="kdigo_heatmap 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83080"/>
            <a:ext cx="5212080" cy="4297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172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9E0B"/>
                </a:solidFill>
                <a:latin typeface="Calibri"/>
              </a:rPr>
              <a:t>We coded all 15 cells of this grid into Python dict — no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005840"/>
            <a:ext cx="5852160" cy="256032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07899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WHO CVD Chart  —  Lab Version (with Cholesterol)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38988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2DFDB"/>
                </a:solidFill>
                <a:latin typeface="Calibri"/>
              </a:rPr>
              <a:t>Rows: age  |  Columns: cholesterol + BP  |  Colour: 10-year risk %</a:t>
            </a:r>
          </a:p>
        </p:txBody>
      </p:sp>
      <p:pic>
        <p:nvPicPr>
          <p:cNvPr id="13" name="Picture 12" descr="south-asia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691640"/>
            <a:ext cx="5715000" cy="169164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989320" y="3703320"/>
            <a:ext cx="5852160" cy="260604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377647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WHO CVD Chart  —  Non-Lab Version (uses BMI instead)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408736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A580C"/>
                </a:solidFill>
                <a:latin typeface="Calibri"/>
              </a:rPr>
              <a:t>Auto-used when cholesterol lab result is unavailable</a:t>
            </a:r>
          </a:p>
        </p:txBody>
      </p:sp>
      <p:pic>
        <p:nvPicPr>
          <p:cNvPr id="17" name="Picture 16" descr="south-asia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4389120"/>
            <a:ext cx="5715000" cy="17830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20040" y="6199632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9E0B"/>
                </a:solidFill>
                <a:latin typeface="Calibri"/>
              </a:rPr>
              <a:t>These are the ACTUAL source images. We manually digitised them — every number in our JSON data files came from these charts.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Handling Missing Data  —  Graceful Degradation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56032"/>
            <a:ext cx="685800" cy="347472"/>
          </a:xfrm>
          <a:prstGeom prst="roundRect">
            <a:avLst>
              <a:gd name="adj" fmla="val 1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6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2412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4155"/>
                </a:solidFill>
                <a:latin typeface="Calibri"/>
              </a:rPr>
              <a:t>The problem statement explicitly calls out incomplete patient records in rural settings. Here is exactly how we handle it: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572768"/>
            <a:ext cx="2651760" cy="438912"/>
          </a:xfrm>
          <a:prstGeom prst="roundRect">
            <a:avLst>
              <a:gd name="adj" fmla="val 18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PATIENT ARRIVES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" y="2011680"/>
            <a:ext cx="0" cy="274320"/>
          </a:xfrm>
          <a:prstGeom prst="line">
            <a:avLst/>
          </a:prstGeom>
          <a:ln w="25400">
            <a:solidFill>
              <a:srgbClr val="33415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0" y="2286000"/>
            <a:ext cx="3017520" cy="402336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Are lab results available?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017520"/>
            <a:ext cx="3931920" cy="402336"/>
          </a:xfrm>
          <a:prstGeom prst="roundRect">
            <a:avLst>
              <a:gd name="adj" fmla="val 18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YES — Cholesterol available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703320"/>
            <a:ext cx="3931920" cy="402336"/>
          </a:xfrm>
          <a:prstGeom prst="roundRect">
            <a:avLst>
              <a:gd name="adj" fmla="val 18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Use lab-based WHO-CVD chart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80360" y="3429000"/>
            <a:ext cx="0" cy="274320"/>
          </a:xfrm>
          <a:prstGeom prst="line">
            <a:avLst/>
          </a:prstGeom>
          <a:ln w="25400">
            <a:solidFill>
              <a:srgbClr val="16A34A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14400" y="4389120"/>
            <a:ext cx="3931920" cy="402336"/>
          </a:xfrm>
          <a:prstGeom prst="roundRect">
            <a:avLst>
              <a:gd name="adj" fmla="val 18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High-precision 10-year risk %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880360" y="4114800"/>
            <a:ext cx="0" cy="274320"/>
          </a:xfrm>
          <a:prstGeom prst="line">
            <a:avLst/>
          </a:prstGeom>
          <a:ln w="25400">
            <a:solidFill>
              <a:srgbClr val="16A34A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315200" y="3017520"/>
            <a:ext cx="3931920" cy="402336"/>
          </a:xfrm>
          <a:prstGeom prst="roundRect">
            <a:avLst>
              <a:gd name="adj" fmla="val 18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NO — Cholesterol missing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3703320"/>
            <a:ext cx="3931920" cy="402336"/>
          </a:xfrm>
          <a:prstGeom prst="roundRect">
            <a:avLst>
              <a:gd name="adj" fmla="val 18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Auto-switch to BMI-based chart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281160" y="3429000"/>
            <a:ext cx="0" cy="274320"/>
          </a:xfrm>
          <a:prstGeom prst="line">
            <a:avLst/>
          </a:prstGeom>
          <a:ln w="25400">
            <a:solidFill>
              <a:srgbClr val="EA580C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7315200" y="4389120"/>
            <a:ext cx="3931920" cy="402336"/>
          </a:xfrm>
          <a:prstGeom prst="roundRect">
            <a:avLst>
              <a:gd name="adj" fmla="val 18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Risk calculated via BMI instead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81160" y="4114800"/>
            <a:ext cx="0" cy="274320"/>
          </a:xfrm>
          <a:prstGeom prst="line">
            <a:avLst/>
          </a:prstGeom>
          <a:ln w="25400">
            <a:solidFill>
              <a:srgbClr val="EA580C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852160" y="3566160"/>
            <a:ext cx="457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23760" y="4937760"/>
            <a:ext cx="4114800" cy="749808"/>
          </a:xfrm>
          <a:prstGeom prst="rect">
            <a:avLst/>
          </a:prstGeom>
          <a:solidFill>
            <a:srgbClr val="FFEDC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4983480"/>
            <a:ext cx="3886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Flag raised for doctor:
"Lipid panel recommended  —  Source: WHO CVD Guidelines"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577840"/>
            <a:ext cx="11548872" cy="8961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687568"/>
            <a:ext cx="111831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Same logic for kidney tests: if Serum Creatinine is missing -&gt; engine returns partial result + flags "Serum Creatinine required for kidney risk calculation"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Tech Stack &amp; Progress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56032"/>
            <a:ext cx="685800" cy="347472"/>
          </a:xfrm>
          <a:prstGeom prst="roundRect">
            <a:avLst>
              <a:gd name="adj" fmla="val 1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7  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521440" cy="96012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09728" cy="9601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35024"/>
            <a:ext cx="2560320" cy="384048"/>
          </a:xfrm>
          <a:prstGeom prst="roundRect">
            <a:avLst>
              <a:gd name="adj" fmla="val 1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FastAPI  (Python)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188720"/>
            <a:ext cx="8321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Backend REST API  —  /analyze endpoint with Pydantic input validation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130552"/>
            <a:ext cx="11521440" cy="960120"/>
          </a:xfrm>
          <a:prstGeom prst="rect">
            <a:avLst/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2130552"/>
            <a:ext cx="109728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86584"/>
            <a:ext cx="2560320" cy="384048"/>
          </a:xfrm>
          <a:prstGeom prst="roundRect">
            <a:avLst>
              <a:gd name="adj" fmla="val 18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Pure Python engines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240280"/>
            <a:ext cx="8321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4 scoring engines — zero ML/AI dependencies for the math. 86% unit test coverage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182111"/>
            <a:ext cx="11521440" cy="96012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3182111"/>
            <a:ext cx="109728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438143"/>
            <a:ext cx="2560320" cy="384048"/>
          </a:xfrm>
          <a:prstGeom prst="roundRect">
            <a:avLst>
              <a:gd name="adj" fmla="val 18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NVIDIA NIM  /  Claude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291839"/>
            <a:ext cx="8321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AI layer: generates the plain-English explanation and referral note only.
Receives structured JSON — never computes a risk score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233672"/>
            <a:ext cx="11521440" cy="960120"/>
          </a:xfrm>
          <a:prstGeom prst="rect">
            <a:avLst/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4233672"/>
            <a:ext cx="109728" cy="9601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489704"/>
            <a:ext cx="2560320" cy="384048"/>
          </a:xfrm>
          <a:prstGeom prst="roundRect">
            <a:avLst>
              <a:gd name="adj" fmla="val 18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Vanilla HTML / CSS / 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343400"/>
            <a:ext cx="8321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Frontend — no framework. Runs in any browser, works on a tablet.
10-patient demo dropdown built in for live evaluation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285231"/>
            <a:ext cx="11521440" cy="96012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5285231"/>
            <a:ext cx="109728" cy="9601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541263"/>
            <a:ext cx="2560320" cy="384048"/>
          </a:xfrm>
          <a:prstGeom prst="roundRect">
            <a:avLst>
              <a:gd name="adj" fmla="val 18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Synthetic test suite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5394959"/>
            <a:ext cx="8321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10 clinical edge-case patients (missing labs, elderly, stroke, healthy baseline)
Caught 3 real bugs before demo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We Caught &amp; Fixed  —  Validation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56032"/>
            <a:ext cx="685800" cy="347472"/>
          </a:xfrm>
          <a:prstGeom prst="roundRect">
            <a:avLst>
              <a:gd name="adj" fmla="val 1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8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34155"/>
                </a:solidFill>
                <a:latin typeface="Calibri"/>
              </a:rPr>
              <a:t>Honest reporting of real bugs found during development builds more credibility than claiming a perfect build.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600200"/>
            <a:ext cx="1152144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320040" cy="14173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09928"/>
            <a:ext cx="822960" cy="310896"/>
          </a:xfrm>
          <a:prstGeom prst="roundRect">
            <a:avLst>
              <a:gd name="adj" fmla="val 18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Bug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709928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F172A"/>
                </a:solidFill>
                <a:latin typeface="Calibri"/>
              </a:rPr>
              <a:t>WHO CVD Chart — BMI boundary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Our digitised grid had 30–34 where the source chart shows 30–35. A patient with BMI exactly 34.8 was reading the wrong risk band.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6032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00695C"/>
                </a:solidFill>
                <a:latin typeface="Calibri"/>
              </a:rPr>
              <a:t>  Found by: manually comparing our JSON grid cell-by-cell against the source chart image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136391"/>
            <a:ext cx="1152144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3136391"/>
            <a:ext cx="320040" cy="1417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246119"/>
            <a:ext cx="822960" cy="310896"/>
          </a:xfrm>
          <a:prstGeom prst="roundRect">
            <a:avLst>
              <a:gd name="adj" fmla="val 18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Bug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246119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F172A"/>
                </a:solidFill>
                <a:latin typeface="Calibri"/>
              </a:rPr>
              <a:t>Kidney Risk Grid — wrong cell colour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639311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One specific cell (G4 + low protein) was coded as Yellow but the official KDIGO grid shows Orange.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96511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00695C"/>
                </a:solidFill>
                <a:latin typeface="Calibri"/>
              </a:rPr>
              <a:t>  Found by: comparing our hardcoded grid against the actual KDIGO heatmap screenshot we had saved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672583"/>
            <a:ext cx="1152144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672583"/>
            <a:ext cx="320040" cy="1417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782311"/>
            <a:ext cx="822960" cy="310896"/>
          </a:xfrm>
          <a:prstGeom prst="roundRect">
            <a:avLst>
              <a:gd name="adj" fmla="val 18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Bug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782311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F172A"/>
                </a:solidFill>
                <a:latin typeface="Calibri"/>
              </a:rPr>
              <a:t>Kidney eGFR — float vs integer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175503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eGFR of 44.2 was falling through our G-stage conditions written as integers (30 &lt;= eGFR &lt;= 44), giving wrong G5 instead of G3b.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632703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00695C"/>
                </a:solidFill>
                <a:latin typeface="Calibri"/>
              </a:rPr>
              <a:t>  Found by: synthetic test Patient 10 (elderly boundary case) in our automated test suite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6236208"/>
            <a:ext cx="1152144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291072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  <a:latin typeface="Calibri"/>
              </a:rPr>
              <a:t>10-patient synthetic test suite — covering missing data, boundary values, elderly patients, acute stroke — caught all 3 bugs before demo.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7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3375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2DFDB"/>
                </a:solidFill>
                <a:latin typeface="Calibri"/>
              </a:rPr>
              <a:t>localhost:8081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160520"/>
            <a:ext cx="594360" cy="384048"/>
          </a:xfrm>
          <a:prstGeom prst="roundRect">
            <a:avLst>
              <a:gd name="adj" fmla="val 18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4215384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High Risk case — full lab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846320"/>
            <a:ext cx="594360" cy="384048"/>
          </a:xfrm>
          <a:prstGeom prst="roundRect">
            <a:avLst>
              <a:gd name="adj" fmla="val 18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4901184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Missing labs — graceful fallback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532120"/>
            <a:ext cx="594360" cy="384048"/>
          </a:xfrm>
          <a:prstGeom prst="roundRect">
            <a:avLst>
              <a:gd name="adj" fmla="val 18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5586984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Healthy patient — all green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0"/>
            <a:ext cx="606247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274320"/>
            <a:ext cx="5303520" cy="411480"/>
          </a:xfrm>
          <a:prstGeom prst="roundRect">
            <a:avLst>
              <a:gd name="adj" fmla="val 1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Likely Questions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914400"/>
            <a:ext cx="5577840" cy="1298448"/>
          </a:xfrm>
          <a:prstGeom prst="rect">
            <a:avLst/>
          </a:prstGeom>
          <a:solidFill>
            <a:srgbClr val="1A283E"/>
          </a:solidFill>
          <a:ln w="63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0058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Q: Why not just ask an AI for the risk score?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426464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AI can hallucinate numbers. Our engines use the actual validated formulas — every score is traceable to a specific guideline.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331720"/>
            <a:ext cx="5577840" cy="1298448"/>
          </a:xfrm>
          <a:prstGeom prst="rect">
            <a:avLst/>
          </a:prstGeom>
          <a:solidFill>
            <a:srgbClr val="1A283E"/>
          </a:solidFill>
          <a:ln w="63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4231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Q: Is this validated on real patients?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843784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The formulas we coded ARE validated — IDRS on 113k patients, WHO/KDIGO by global health bodies. Our implementation tested on 10 synthetic edge-case patients.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749039"/>
            <a:ext cx="5577840" cy="1298448"/>
          </a:xfrm>
          <a:prstGeom prst="rect">
            <a:avLst/>
          </a:prstGeom>
          <a:solidFill>
            <a:srgbClr val="1A283E"/>
          </a:solidFill>
          <a:ln w="63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840479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Q: What if two conditions give conflicting advice?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261103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The ACC/AHA guideline has cross-condition rules (e.g. CKD + HTN = stricter BP target). We coded these combined rules into the referral engine.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5166360"/>
            <a:ext cx="5577840" cy="1298448"/>
          </a:xfrm>
          <a:prstGeom prst="rect">
            <a:avLst/>
          </a:prstGeom>
          <a:solidFill>
            <a:srgbClr val="1A283E"/>
          </a:solidFill>
          <a:ln w="63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52578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Q: What would you build next?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678424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Offline mode (PS2 scope), more regional language support, expanded synthetic test coverage to 100+ cases.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649224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2DFDB"/>
                </a:solidFill>
                <a:latin typeface="Calibri"/>
              </a:rPr>
              <a:t>github.com/CodeMeAbhishek/TETRA010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Test Case P03: Multi-Condition High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56032"/>
            <a:ext cx="685800" cy="347472"/>
          </a:xfrm>
          <a:prstGeom prst="roundRect">
            <a:avLst>
              <a:gd name="adj" fmla="val 1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10  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4114800" cy="534924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High Risk Scenario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37490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• Patient features:
  - Age: 65, Male
  - Waist: 102cm (IDRS high)
  - SBP: 165 mmHg (HTN Stage 2)
  - Lipids: Total Chol 6.2 mmol/L
  - Creatinine: 1.8 mg/dL
  - Urine ACR: 45 mg/g (CKD G3b-A2)
• Assessment Outcomes:
  - CVD risk: 36% (Very High)
  - IDRS: 80 (High Risk)
  - HTN: Stage 2 Hypertension
  - CKD: Orange (High Risk)
• Referral Engine:
  - Action: REFER (Urgent)
  - Note drafts complete clinical justifications for the PCP.</a:t>
            </a:r>
          </a:p>
        </p:txBody>
      </p:sp>
      <p:pic>
        <p:nvPicPr>
          <p:cNvPr id="8" name="Picture 7" descr="p03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51560"/>
            <a:ext cx="713232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Test Case P04: Missing Labs Fallback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56032"/>
            <a:ext cx="685800" cy="347472"/>
          </a:xfrm>
          <a:prstGeom prst="roundRect">
            <a:avLst>
              <a:gd name="adj" fmla="val 1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11  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4114800" cy="5349240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Graceful Degradation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37490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• Patient features:
  - Age: 55, Female
  - Waist: 95cm
  - SBP: 135 mmHg
  - Lipids: MISSING (No labs)
  - BMI: 28.5 (Fallback input)
• Assessment Outcomes:
  - CVD: Automatically uses BMI non-lab chart. Calculated risk: 8%.
  - HTN: Stage 1 Hypertension
• Required Investigations:
  - Aggregator flags Lipid Panel and Serum Creatinine as missing.
  - Cites exact medical source.</a:t>
            </a:r>
          </a:p>
        </p:txBody>
      </p:sp>
      <p:pic>
        <p:nvPicPr>
          <p:cNvPr id="8" name="Picture 7" descr="p04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51560"/>
            <a:ext cx="713232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Test Case P06: Healthy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56032"/>
            <a:ext cx="685800" cy="347472"/>
          </a:xfrm>
          <a:prstGeom prst="roundRect">
            <a:avLst>
              <a:gd name="adj" fmla="val 1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12  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4114800" cy="5349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Healthy Patient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37490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• Patient features:
  - Age: 35, Female
  - Waist: 70cm
  - Physical activity: Active
  - SBP: 110, DBP: 75 mmHg
  - No prior history
• Assessment Outcomes:
  - CVD risk: &lt;1% (Low)
  - IDRS: 0 (Low)
  - HTN: Normal BP
  - CKD: G1/A1 Green (Normal)
• Referral Engine:
  - Action: ROUTINE MONITORING
  - Reassuring clinical communication in summary.</a:t>
            </a:r>
          </a:p>
        </p:txBody>
      </p:sp>
      <p:pic>
        <p:nvPicPr>
          <p:cNvPr id="8" name="Picture 7" descr="p06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51560"/>
            <a:ext cx="7132320" cy="5349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