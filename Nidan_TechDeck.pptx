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We didn't call any medical API or let an AI estimate a risk number. We went to the source papers, pulled the validated formulas, and hard-coded them. That is what makes this auditable.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top to bottom. Emphasize:</a:t>
            </a:r>
          </a:p>
          <a:p>
            <a:r>
              <a:t>1) All 4 engines run in parallel — no blocking.</a:t>
            </a:r>
          </a:p>
          <a:p>
            <a:r>
              <a:t>2) The GOLD arrow: engines produce JSON, AI receives JSON. AI is an explainer, not a calculator.</a:t>
            </a:r>
          </a:p>
          <a:p>
            <a:r>
              <a:t>3) Missing investigations aggregator means the doctor gets ONE list, not four.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talking point: We did the hard manual work of reading these papers and coding their formulas ourselves. That is WHY the system is accurate and auditable — there is no black box API that we're hoping is correct.</a:t>
            </a:r>
          </a:p>
          <a:p>
            <a:r>
              <a:t>The code snippets shown are simplified but accurate excerpts from the actual engine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visual proof of the manual work.</a:t>
            </a:r>
          </a:p>
          <a:p>
            <a:r>
              <a:t>Point to the KDIGO grid: 'We coded every one of these 15 coloured cells into a Python dict.'</a:t>
            </a:r>
          </a:p>
          <a:p>
            <a:r>
              <a:t>Point to WHO lab chart: 'Each of these coloured numbers is a JSON value that our engine looks up.'</a:t>
            </a:r>
          </a:p>
          <a:p>
            <a:r>
              <a:t>Point to WHO non-lab: 'This is the fallback chart — uses BMI instead of cholesterol. Our system automatically switches to this when cholesterol is missing.'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Emphasize: we never silently substitute a default value for missing data. The system tells the doctor exactly what is missing AND why it matters. The missing investigations list is de-duplicated — if two engines need creatinine, the doctor only sees one 'order creatinine'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test coverage: 86%. Stroke edge cases are the thinnest area.</a:t>
            </a:r>
          </a:p>
          <a:p>
            <a:r>
              <a:t>AI layer is a graceful enhancement: if the API key is absent, all 4 scoring engines still run and return full structured data — the AI explanation is additive, not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be defensive about these bugs — they show the validation process is working.</a:t>
            </a:r>
          </a:p>
          <a:p>
            <a:r>
              <a:t>Bug 2 was only catchable because we HAD the source image saved locally and could compare.</a:t>
            </a:r>
          </a:p>
          <a:p>
            <a:r>
              <a:t>Bug 3 was caught by the test suite, not manually — shows the test suite was worth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order:</a:t>
            </a:r>
          </a:p>
          <a:p>
            <a:r>
              <a:t>1. P03 — walk through all 4 gauges + referral banner</a:t>
            </a:r>
          </a:p>
          <a:p>
            <a:r>
              <a:t>2. P04 — show WHO chart fallback + missing investigations panel</a:t>
            </a:r>
          </a:p>
          <a:p>
            <a:r>
              <a:t>3. P06 — show calm low-risk state (system doesn't just alarm on everyone)</a:t>
            </a:r>
          </a:p>
          <a:p/>
          <a:p>
            <a:r>
              <a:t>After demo, offer to open GitHub and show /backend/scoring/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03920" y="1371600"/>
            <a:ext cx="3291840" cy="566928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Diabetes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3920" y="2286000"/>
            <a:ext cx="3291840" cy="566928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Hypertension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503920" y="3200400"/>
            <a:ext cx="3291840" cy="566928"/>
          </a:xfrm>
          <a:prstGeom prst="roundRect">
            <a:avLst>
              <a:gd name="adj" fmla="val 18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CKD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4114800"/>
            <a:ext cx="3291840" cy="566928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CVD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0" y="5029200"/>
            <a:ext cx="3291840" cy="566928"/>
          </a:xfrm>
          <a:prstGeom prst="roundRect">
            <a:avLst>
              <a:gd name="adj" fmla="val 18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Stroke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57200"/>
            <a:ext cx="5303520" cy="384048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Track A  |  HealthTech  |  Problem Statement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97280"/>
            <a:ext cx="7772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1" i="0">
                <a:solidFill>
                  <a:srgbClr val="FFFFFF"/>
                </a:solidFill>
                <a:latin typeface="Calibri"/>
              </a:rPr>
              <a:t>Nidan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46888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B2DFDB"/>
                </a:solidFill>
                <a:latin typeface="Calibri"/>
              </a:rPr>
              <a:t>Clinical Decision Support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154680"/>
            <a:ext cx="7589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CBD5E1"/>
                </a:solidFill>
                <a:latin typeface="Calibri"/>
              </a:rPr>
              <a:t>AI-powered lifestyle disease risk prediction &amp;
early referral assistant for primary care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114800"/>
            <a:ext cx="6858000" cy="365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29768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9688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07408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Conditions covered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429768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9688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4407408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Scoring engines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4297680"/>
            <a:ext cx="73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009688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15000" y="4407408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External medical APIs called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Team — Tetrathon 2026  |  August 1, 2026  |  github.com/CodeMeAbhishek/TETRA010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Problem &amp;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01400" y="256032"/>
            <a:ext cx="685800" cy="347472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2  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51560"/>
            <a:ext cx="5486400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548640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91640"/>
            <a:ext cx="521208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78308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Late diagnosis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130552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77% of lifestyle disease cases in India are only
caught when they have already worsened.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46120"/>
            <a:ext cx="521208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33756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No decision support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685032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Primary health workers lack tools to screen
systematically — screening is inconsistent.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00600"/>
            <a:ext cx="5212080" cy="1371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9204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Incomplete records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239512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4155"/>
                </a:solidFill>
                <a:latin typeface="Calibri"/>
              </a:rPr>
              <a:t>Rural PHCs often have NO lab results.
System must still give useful output.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1051560"/>
            <a:ext cx="5486400" cy="5349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51560"/>
            <a:ext cx="5486400" cy="457200"/>
          </a:xfrm>
          <a:prstGeom prst="rect">
            <a:avLst/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Our Approach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1691640"/>
            <a:ext cx="109728" cy="13716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60" y="178308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No external medical APIs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130552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Calibri"/>
              </a:rPr>
              <a:t>We read the original published research papers and WHO/KDIGO guidelines,
extracted every formula and threshold, then coded them directly in Python.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7960" y="3246120"/>
            <a:ext cx="109728" cy="13716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0" y="333756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Deterministic scoring engines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685032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Calibri"/>
              </a:rPr>
              <a:t>4 independent engines run the math. Each engine cites its source. The AI layer
only explains results — it never calculates a score.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60" y="4800600"/>
            <a:ext cx="109728" cy="13716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0" y="489204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72A"/>
                </a:solidFill>
                <a:latin typeface="Calibri"/>
              </a:rPr>
              <a:t>Graceful degradation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5239512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Calibri"/>
              </a:rPr>
              <a:t>If lab data is missing, the system automatically uses the non-lab fallback chart
and tells the doctor exactly which test to order — never guesses.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01400" y="256032"/>
            <a:ext cx="685800" cy="347472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3  </a:t>
            </a:r>
          </a:p>
        </p:txBody>
      </p:sp>
      <p:sp>
        <p:nvSpPr>
          <p:cNvPr id="5" name="Rectangle 4"/>
          <p:cNvSpPr/>
          <p:nvPr/>
        </p:nvSpPr>
        <p:spPr>
          <a:xfrm>
            <a:off x="3703320" y="1005840"/>
            <a:ext cx="4754880" cy="475488"/>
          </a:xfrm>
          <a:prstGeom prst="roundRect">
            <a:avLst>
              <a:gd name="adj" fmla="val 18000"/>
            </a:avLst>
          </a:prstGeom>
          <a:solidFill>
            <a:srgbClr val="006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Frontend  —  Patient Assessment Form (HTML/JS)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80760" y="1481328"/>
            <a:ext cx="0" cy="292608"/>
          </a:xfrm>
          <a:prstGeom prst="line">
            <a:avLst/>
          </a:prstGeom>
          <a:ln w="25400">
            <a:solidFill>
              <a:srgbClr val="009688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3703320" y="1773936"/>
            <a:ext cx="4754880" cy="475488"/>
          </a:xfrm>
          <a:prstGeom prst="roundRect">
            <a:avLst>
              <a:gd name="adj" fmla="val 18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FastAPI Backend  —  /analyze  endpoint (Python)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080760" y="2249424"/>
            <a:ext cx="0" cy="292608"/>
          </a:xfrm>
          <a:prstGeom prst="line">
            <a:avLst/>
          </a:prstGeom>
          <a:ln w="25400">
            <a:solidFill>
              <a:srgbClr val="009688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703320" y="2542032"/>
            <a:ext cx="4754880" cy="475488"/>
          </a:xfrm>
          <a:prstGeom prst="roundRect">
            <a:avLst>
              <a:gd name="adj" fmla="val 18000"/>
            </a:avLst>
          </a:prstGeom>
          <a:solidFill>
            <a:srgbClr val="3747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Input Checker  —  identifies which fields are present vs. missing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6656" y="3429000"/>
            <a:ext cx="2606040" cy="621792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Diabetes
IDRS formula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79676.0" y="3017520"/>
            <a:ext cx="0.0" cy="411480"/>
          </a:xfrm>
          <a:prstGeom prst="line">
            <a:avLst/>
          </a:prstGeom>
          <a:ln w="19050">
            <a:solidFill>
              <a:srgbClr val="009688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419856" y="3429000"/>
            <a:ext cx="2606040" cy="621792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Blood Pressure
ACC/AHA 2017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22876.0" y="3017520"/>
            <a:ext cx="0.0" cy="411480"/>
          </a:xfrm>
          <a:prstGeom prst="line">
            <a:avLst/>
          </a:prstGeom>
          <a:ln w="19050">
            <a:solidFill>
              <a:srgbClr val="009688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163056" y="3429000"/>
            <a:ext cx="2606040" cy="621792"/>
          </a:xfrm>
          <a:prstGeom prst="roundRect">
            <a:avLst>
              <a:gd name="adj" fmla="val 18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Heart Risk
WHO CVD charts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466076.0" y="3017520"/>
            <a:ext cx="0.0" cy="411480"/>
          </a:xfrm>
          <a:prstGeom prst="line">
            <a:avLst/>
          </a:prstGeom>
          <a:ln w="19050">
            <a:solidFill>
              <a:srgbClr val="009688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8906256" y="3429000"/>
            <a:ext cx="2606040" cy="621792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Kidney Risk
KDIGO 2024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209276.0" y="3017520"/>
            <a:ext cx="0.0" cy="411480"/>
          </a:xfrm>
          <a:prstGeom prst="line">
            <a:avLst/>
          </a:prstGeom>
          <a:ln w="19050">
            <a:solidFill>
              <a:srgbClr val="009688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76656" y="4142232"/>
            <a:ext cx="10835640" cy="2743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6080760" y="4142232"/>
            <a:ext cx="0" cy="292608"/>
          </a:xfrm>
          <a:prstGeom prst="line">
            <a:avLst/>
          </a:prstGeom>
          <a:ln w="25400">
            <a:solidFill>
              <a:srgbClr val="009688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3703320" y="4343400"/>
            <a:ext cx="4754880" cy="475488"/>
          </a:xfrm>
          <a:prstGeom prst="roundRect">
            <a:avLst>
              <a:gd name="adj" fmla="val 18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Missing Investigations  —  de-duplicates what each engine needs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80760" y="4818888"/>
            <a:ext cx="0" cy="292608"/>
          </a:xfrm>
          <a:prstGeom prst="line">
            <a:avLst/>
          </a:prstGeom>
          <a:ln w="25400">
            <a:solidFill>
              <a:srgbClr val="009688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703320" y="5074920"/>
            <a:ext cx="4754880" cy="475488"/>
          </a:xfrm>
          <a:prstGeom prst="roundRect">
            <a:avLst>
              <a:gd name="adj" fmla="val 18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Referral Engine  —  REFER / MONITOR / ROUTINE + reason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80760" y="5586984"/>
            <a:ext cx="0" cy="201168"/>
          </a:xfrm>
          <a:prstGeom prst="line">
            <a:avLst/>
          </a:prstGeom>
          <a:ln w="38100">
            <a:solidFill>
              <a:srgbClr val="F59E0B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154680" y="5568696"/>
            <a:ext cx="5852160" cy="329184"/>
          </a:xfrm>
          <a:prstGeom prst="roundRect">
            <a:avLst>
              <a:gd name="adj" fmla="val 1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Structured JSON only passed to AI  —  AI never calculates a score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03320" y="5760720"/>
            <a:ext cx="4754880" cy="475488"/>
          </a:xfrm>
          <a:prstGeom prst="roundRect">
            <a:avLst>
              <a:gd name="adj" fmla="val 18000"/>
            </a:avLst>
          </a:prstGeom>
          <a:solidFill>
            <a:srgbClr val="312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AI Layer (NVIDIA NIM / Claude)  —  explain  |  translate  |  draft referral note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How We Built the Scoring Engines  —  No Medical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01400" y="256032"/>
            <a:ext cx="685800" cy="347472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4  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11548872" cy="594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1118311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F172A"/>
                </a:solidFill>
                <a:latin typeface="Calibri"/>
              </a:rPr>
              <a:t>Every formula in this system came from reading the original published research papers, not from calling any third-party medical API.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828800"/>
            <a:ext cx="576072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828800"/>
            <a:ext cx="5760720" cy="43891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9280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Diabetes Risk  (IDRS)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33172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695C"/>
                </a:solidFill>
                <a:latin typeface="Calibri"/>
              </a:rPr>
              <a:t>Source: ICMR-INDIAB study  |  113,043 patients across India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33472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We read the research paper and extracted a 4-factor scoring formula:
Age + Waist size + Physical activity + Family history  =  score 0 to 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246120"/>
            <a:ext cx="5394960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73552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2DFDB"/>
                </a:solidFill>
                <a:latin typeface="Courier New"/>
              </a:rPr>
              <a:t>if waist_cm &gt;= 90: score += 30   # male threshold
if age &gt;= 50:       score += 20
if sedentary:       score += 20
if family_history:  score += 10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59" y="1828800"/>
            <a:ext cx="576072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59" y="1828800"/>
            <a:ext cx="5760720" cy="43891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19" y="189280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Heart Risk  (WHO CVD Charts)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19" y="233172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695C"/>
                </a:solidFill>
                <a:latin typeface="Calibri"/>
              </a:rPr>
              <a:t>Source: WHO South Asia CVD Risk Charts  —  digitised into JSON grid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19" y="2633472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We photographed and manually digitised the WHO colour risk table
(800+ cells). System looks up the right cell for each patient.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19" y="3246120"/>
            <a:ext cx="5394960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59" y="3273552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2DFDB"/>
                </a:solidFill>
                <a:latin typeface="Courier New"/>
              </a:rPr>
              <a:t># No API — we digitised the chart ourselves
risk = who_cvd_grid[age_band][sex][sbp_band][cholesterol_band]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4160520"/>
            <a:ext cx="576072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4160520"/>
            <a:ext cx="5760720" cy="43891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22452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Kidney Risk  (KDIGO)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66344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695C"/>
                </a:solidFill>
                <a:latin typeface="Calibri"/>
              </a:rPr>
              <a:t>Source: KDIGO 2024 Clinical Practice Guidelines  +  CKD-EPI 2021 formula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965192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We extracted the eGFR formula from the guideline and coded the
colour risk grid (G1-G5 x A1-A3 = 15 cells) directly in Python.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577840"/>
            <a:ext cx="5394960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605272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2DFDB"/>
                </a:solidFill>
                <a:latin typeface="Courier New"/>
              </a:rPr>
              <a:t>eGFR = 142 * min(cr/kappa,1)**alpha * max(cr/kappa,1)**-1.200
risk_color = kdigo_grid[g_stage][a_stage]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59" y="4160520"/>
            <a:ext cx="5760720" cy="2194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09359" y="4160520"/>
            <a:ext cx="5760720" cy="43891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19" y="422452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Blood Pressure  (ACC/AHA 2017)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19" y="466344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695C"/>
                </a:solidFill>
                <a:latin typeface="Calibri"/>
              </a:rPr>
              <a:t>Source: 2017 ACC/AHA Hypertension Guideline  +  Stroke protocols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19" y="4965192"/>
            <a:ext cx="5394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0F172A"/>
                </a:solidFill>
                <a:latin typeface="Calibri"/>
              </a:rPr>
              <a:t>We read the guideline document and coded every BP threshold,
cross-module rule (e.g. CKD+HTN = stricter target), and stroke protocol.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19" y="5577840"/>
            <a:ext cx="5394960" cy="6858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59" y="5605272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2DFDB"/>
                </a:solidFill>
                <a:latin typeface="Courier New"/>
              </a:rPr>
              <a:t>if sbp &gt;= 180 or dbp &gt;= 110: category = 'Stage 2 Hypertension'
elif sbp &gt;= 130:             category = 'Stage 1 Hypertension'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The Source Charts We Digitised Into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01400" y="256032"/>
            <a:ext cx="685800" cy="347472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5  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5303520" cy="534924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0789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KDIGO Kidney Risk Grid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2DFDB"/>
                </a:solidFill>
                <a:latin typeface="Calibri"/>
              </a:rPr>
              <a:t>G1-G5 (kidney function) x A1-A3 (protein in urine)  =  risk colour</a:t>
            </a:r>
          </a:p>
        </p:txBody>
      </p:sp>
      <p:pic>
        <p:nvPicPr>
          <p:cNvPr id="8" name="Picture 7" descr="kdigo_heatmap (2)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83080"/>
            <a:ext cx="5212080" cy="4297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172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59E0B"/>
                </a:solidFill>
                <a:latin typeface="Calibri"/>
              </a:rPr>
              <a:t>We coded all 15 cells of this grid into Python dict — no API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1005840"/>
            <a:ext cx="5852160" cy="25603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078992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WHO CVD Chart  —  Lab Version (with Cholesterol)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389888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2DFDB"/>
                </a:solidFill>
                <a:latin typeface="Calibri"/>
              </a:rPr>
              <a:t>Rows: age  |  Columns: cholesterol + BP  |  Colour: 10-year risk %</a:t>
            </a:r>
          </a:p>
        </p:txBody>
      </p:sp>
      <p:pic>
        <p:nvPicPr>
          <p:cNvPr id="13" name="Picture 12" descr="south-asia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91640"/>
            <a:ext cx="5715000" cy="16916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5989320" y="3703320"/>
            <a:ext cx="5852160" cy="260604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3776472"/>
            <a:ext cx="5577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WHO CVD Chart  —  Non-Lab Version (uses BMI instead)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4087368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A580C"/>
                </a:solidFill>
                <a:latin typeface="Calibri"/>
              </a:rPr>
              <a:t>Auto-used when cholesterol lab result is unavailable</a:t>
            </a:r>
          </a:p>
        </p:txBody>
      </p:sp>
      <p:pic>
        <p:nvPicPr>
          <p:cNvPr id="17" name="Picture 16" descr="south-asia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4389120"/>
            <a:ext cx="5715000" cy="1783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20040" y="6199632"/>
            <a:ext cx="115488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9E0B"/>
                </a:solidFill>
                <a:latin typeface="Calibri"/>
              </a:rPr>
              <a:t>These are the ACTUAL source images. We manually digitised them — every number in our JSON data files came from these charts.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Handling Missing Data  —  Graceful Degradation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01400" y="256032"/>
            <a:ext cx="685800" cy="347472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6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11430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4155"/>
                </a:solidFill>
                <a:latin typeface="Calibri"/>
              </a:rPr>
              <a:t>The problem statement explicitly calls out incomplete patient records in rural settings. Here is exactly how we handle it: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572768"/>
            <a:ext cx="2651760" cy="438912"/>
          </a:xfrm>
          <a:prstGeom prst="roundRect">
            <a:avLst>
              <a:gd name="adj" fmla="val 18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PATIENT ARRIVES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80760" y="2011680"/>
            <a:ext cx="0" cy="274320"/>
          </a:xfrm>
          <a:prstGeom prst="line">
            <a:avLst/>
          </a:prstGeom>
          <a:ln w="25400">
            <a:solidFill>
              <a:srgbClr val="334155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4572000" y="2286000"/>
            <a:ext cx="3017520" cy="402336"/>
          </a:xfrm>
          <a:prstGeom prst="roundRect">
            <a:avLst>
              <a:gd name="adj" fmla="val 18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Are lab results available?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017520"/>
            <a:ext cx="3931920" cy="402336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YES — Cholesterol available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703320"/>
            <a:ext cx="3931920" cy="402336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Use lab-based WHO-CVD chart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880360" y="3429000"/>
            <a:ext cx="0" cy="274320"/>
          </a:xfrm>
          <a:prstGeom prst="line">
            <a:avLst/>
          </a:prstGeom>
          <a:ln w="25400">
            <a:solidFill>
              <a:srgbClr val="16A34A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914400" y="4389120"/>
            <a:ext cx="3931920" cy="402336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High-precision 10-year risk 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80360" y="4114800"/>
            <a:ext cx="0" cy="274320"/>
          </a:xfrm>
          <a:prstGeom prst="line">
            <a:avLst/>
          </a:prstGeom>
          <a:ln w="25400">
            <a:solidFill>
              <a:srgbClr val="16A34A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315200" y="3017520"/>
            <a:ext cx="3931920" cy="402336"/>
          </a:xfrm>
          <a:prstGeom prst="roundRect">
            <a:avLst>
              <a:gd name="adj" fmla="val 18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NO — Cholesterol missing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703320"/>
            <a:ext cx="3931920" cy="402336"/>
          </a:xfrm>
          <a:prstGeom prst="roundRect">
            <a:avLst>
              <a:gd name="adj" fmla="val 18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Auto-switch to BMI-based chart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281160" y="3429000"/>
            <a:ext cx="0" cy="274320"/>
          </a:xfrm>
          <a:prstGeom prst="line">
            <a:avLst/>
          </a:prstGeom>
          <a:ln w="25400">
            <a:solidFill>
              <a:srgbClr val="EA580C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7315200" y="4389120"/>
            <a:ext cx="3931920" cy="402336"/>
          </a:xfrm>
          <a:prstGeom prst="roundRect">
            <a:avLst>
              <a:gd name="adj" fmla="val 18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Risk calculated via BMI instead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281160" y="4114800"/>
            <a:ext cx="0" cy="274320"/>
          </a:xfrm>
          <a:prstGeom prst="line">
            <a:avLst/>
          </a:prstGeom>
          <a:ln w="25400">
            <a:solidFill>
              <a:srgbClr val="EA580C"/>
            </a:solidFill>
            <a:tailEnd type="none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852160" y="3566160"/>
            <a:ext cx="457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23760" y="4937760"/>
            <a:ext cx="4114800" cy="749808"/>
          </a:xfrm>
          <a:prstGeom prst="rect">
            <a:avLst/>
          </a:prstGeom>
          <a:solidFill>
            <a:srgbClr val="FFEDCC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60920" y="4983480"/>
            <a:ext cx="3886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Flag raised for doctor:
"Lipid panel recommended  —  Source: WHO CVD Guidelines"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77840"/>
            <a:ext cx="11548872" cy="89611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687568"/>
            <a:ext cx="1118311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Same logic for kidney tests: if Serum Creatinine is missing -&gt; engine returns partial result + flags "Serum Creatinine required for kidney risk calculation"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B12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Tech Stack &amp; Progress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01400" y="256032"/>
            <a:ext cx="685800" cy="347472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7  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78992"/>
            <a:ext cx="11521440" cy="9601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078992"/>
            <a:ext cx="109728" cy="9601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2560320" cy="384048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FastAPI  (Python)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188720"/>
            <a:ext cx="8321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Backend REST API  —  /analyze endpoint with Pydantic input validation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130552"/>
            <a:ext cx="11521440" cy="960120"/>
          </a:xfrm>
          <a:prstGeom prst="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2130552"/>
            <a:ext cx="109728" cy="9601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386584"/>
            <a:ext cx="2560320" cy="384048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Pure Python engines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240280"/>
            <a:ext cx="8321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4 scoring engines — zero ML/AI dependencies for the math. 86% unit test coverage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182111"/>
            <a:ext cx="11521440" cy="9601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3182111"/>
            <a:ext cx="109728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438143"/>
            <a:ext cx="2560320" cy="384048"/>
          </a:xfrm>
          <a:prstGeom prst="roundRect">
            <a:avLst>
              <a:gd name="adj" fmla="val 1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72A"/>
                </a:solidFill>
                <a:latin typeface="Calibri"/>
              </a:rPr>
              <a:t>NVIDIA NIM  /  Claude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291839"/>
            <a:ext cx="8321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AI layer: generates the plain-English explanation and referral note only.
Receives structured JSON — never computes a risk score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233672"/>
            <a:ext cx="11521440" cy="960120"/>
          </a:xfrm>
          <a:prstGeom prst="rect">
            <a:avLst/>
          </a:prstGeom>
          <a:solidFill>
            <a:srgbClr val="15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4233672"/>
            <a:ext cx="109728" cy="9601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489704"/>
            <a:ext cx="2560320" cy="384048"/>
          </a:xfrm>
          <a:prstGeom prst="roundRect">
            <a:avLst>
              <a:gd name="adj" fmla="val 18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Vanilla HTML / CSS / 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343400"/>
            <a:ext cx="8321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Frontend — no framework. Runs in any browser, works on a tablet.
10-patient demo dropdown built in for live evaluation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285231"/>
            <a:ext cx="11521440" cy="960120"/>
          </a:xfrm>
          <a:prstGeom prst="rect">
            <a:avLst/>
          </a:prstGeom>
          <a:solidFill>
            <a:srgbClr val="1A28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5285231"/>
            <a:ext cx="109728" cy="9601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541263"/>
            <a:ext cx="2560320" cy="384048"/>
          </a:xfrm>
          <a:prstGeom prst="roundRect">
            <a:avLst>
              <a:gd name="adj" fmla="val 18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Synthetic test suite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5394959"/>
            <a:ext cx="8321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BD5E1"/>
                </a:solidFill>
                <a:latin typeface="Calibri"/>
              </a:rPr>
              <a:t>10 clinical edge-case patients (missing labs, elderly, stroke, healthy baseline)
Caught 3 real bugs before demo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01168"/>
            <a:ext cx="9601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 Caught &amp; Fixed  —  Validation Approach</a:t>
            </a:r>
          </a:p>
        </p:txBody>
      </p:sp>
      <p:sp>
        <p:nvSpPr>
          <p:cNvPr id="4" name="Rectangle 3"/>
          <p:cNvSpPr/>
          <p:nvPr/>
        </p:nvSpPr>
        <p:spPr>
          <a:xfrm>
            <a:off x="11201400" y="256032"/>
            <a:ext cx="685800" cy="347472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  8 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0584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334155"/>
                </a:solidFill>
                <a:latin typeface="Calibri"/>
              </a:rPr>
              <a:t>Honest reporting of real bugs found during development builds more credibility than claiming a perfect build.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600200"/>
            <a:ext cx="1152144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600200"/>
            <a:ext cx="320040" cy="1417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09928"/>
            <a:ext cx="822960" cy="310896"/>
          </a:xfrm>
          <a:prstGeom prst="roundRect">
            <a:avLst>
              <a:gd name="adj" fmla="val 18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Bug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709928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Calibri"/>
              </a:rPr>
              <a:t>WHO CVD Chart — BMI boundary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03120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Calibri"/>
              </a:rPr>
              <a:t>Our digitised grid had 30–34 where the source chart shows 30–35. A patient with BMI exactly 34.8 was reading the wrong risk band.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6032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00695C"/>
                </a:solidFill>
                <a:latin typeface="Calibri"/>
              </a:rPr>
              <a:t>  Found by: manually comparing our JSON grid cell-by-cell against the source chart image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3136391"/>
            <a:ext cx="1152144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3136391"/>
            <a:ext cx="320040" cy="14173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246119"/>
            <a:ext cx="822960" cy="310896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Bug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246119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Calibri"/>
              </a:rPr>
              <a:t>Kidney Risk Grid — wrong cell colour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639311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Calibri"/>
              </a:rPr>
              <a:t>One specific cell (G4 + low protein) was coded as Yellow but the official KDIGO grid shows Orange.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96511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00695C"/>
                </a:solidFill>
                <a:latin typeface="Calibri"/>
              </a:rPr>
              <a:t>  Found by: comparing our hardcoded grid against the actual KDIGO heatmap screenshot we had saved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672583"/>
            <a:ext cx="11521440" cy="1417320"/>
          </a:xfrm>
          <a:prstGeom prst="rect">
            <a:avLst/>
          </a:prstGeom>
          <a:solidFill>
            <a:srgbClr val="FFFFFF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4672583"/>
            <a:ext cx="320040" cy="14173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7240" y="4782311"/>
            <a:ext cx="822960" cy="310896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Bug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782311"/>
            <a:ext cx="9875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F172A"/>
                </a:solidFill>
                <a:latin typeface="Calibri"/>
              </a:rPr>
              <a:t>Kidney eGFR — float vs integer boundary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175503"/>
            <a:ext cx="10789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334155"/>
                </a:solidFill>
                <a:latin typeface="Calibri"/>
              </a:rPr>
              <a:t>eGFR of 44.2 was falling through our G-stage conditions written as integers (30 &lt;= eGFR &lt;= 44), giving wrong G5 instead of G3b.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32703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00695C"/>
                </a:solidFill>
                <a:latin typeface="Calibri"/>
              </a:rPr>
              <a:t>  Found by: synthetic test Patient 10 (elderly boundary case) in our automated test suite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6236208"/>
            <a:ext cx="11521440" cy="47548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29107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9E0B"/>
                </a:solidFill>
                <a:latin typeface="Calibri"/>
              </a:rPr>
              <a:t>10-patient synthetic test suite — covering missing data, boundary values, elderly patients, acute stroke — caught all 3 bugs before demo.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07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0"/>
            <a:ext cx="5212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FFFFFF"/>
                </a:solidFill>
                <a:latin typeface="Calibri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337560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2DFDB"/>
                </a:solidFill>
                <a:latin typeface="Calibri"/>
              </a:rPr>
              <a:t>localhost:8081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4160520"/>
            <a:ext cx="594360" cy="384048"/>
          </a:xfrm>
          <a:prstGeom prst="roundRect">
            <a:avLst>
              <a:gd name="adj" fmla="val 18000"/>
            </a:avLst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4215384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High Risk case — full lab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4846320"/>
            <a:ext cx="594360" cy="384048"/>
          </a:xfrm>
          <a:prstGeom prst="roundRect">
            <a:avLst>
              <a:gd name="adj" fmla="val 18000"/>
            </a:avLst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4901184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Missing labs — graceful fallback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532120"/>
            <a:ext cx="594360" cy="384048"/>
          </a:xfrm>
          <a:prstGeom prst="roundRect">
            <a:avLst>
              <a:gd name="adj" fmla="val 18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5586984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FFFFFF"/>
                </a:solidFill>
                <a:latin typeface="Calibri"/>
              </a:rPr>
              <a:t>Healthy patient — all green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0"/>
            <a:ext cx="606247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274320"/>
            <a:ext cx="5303520" cy="411480"/>
          </a:xfrm>
          <a:prstGeom prst="roundRect">
            <a:avLst>
              <a:gd name="adj" fmla="val 18000"/>
            </a:avLst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Likely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914400"/>
            <a:ext cx="5577840" cy="1298448"/>
          </a:xfrm>
          <a:prstGeom prst="rect">
            <a:avLst/>
          </a:prstGeom>
          <a:solidFill>
            <a:srgbClr val="1A283E"/>
          </a:solidFill>
          <a:ln w="63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00584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Q: Why not just ask an AI for the risk score?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426464"/>
            <a:ext cx="5212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Calibri"/>
              </a:rPr>
              <a:t>AI can hallucinate numbers. Our engines use the actual validated formulas — every score is traceable to a specific guideline.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331720"/>
            <a:ext cx="5577840" cy="1298448"/>
          </a:xfrm>
          <a:prstGeom prst="rect">
            <a:avLst/>
          </a:prstGeom>
          <a:solidFill>
            <a:srgbClr val="1A283E"/>
          </a:solidFill>
          <a:ln w="63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42316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Q: Is this validated on real patients?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843784"/>
            <a:ext cx="5212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Calibri"/>
              </a:rPr>
              <a:t>The formulas we coded ARE validated — IDRS on 113k patients, WHO/KDIGO by global health bodies. Our implementation tested on 10 synthetic edge-case patients.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3749039"/>
            <a:ext cx="5577840" cy="1298448"/>
          </a:xfrm>
          <a:prstGeom prst="rect">
            <a:avLst/>
          </a:prstGeom>
          <a:solidFill>
            <a:srgbClr val="1A283E"/>
          </a:solidFill>
          <a:ln w="63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840479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Q: What if two conditions give conflicting advice?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261103"/>
            <a:ext cx="5212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Calibri"/>
              </a:rPr>
              <a:t>The ACC/AHA guideline has cross-condition rules (e.g. CKD + HTN = stricter BP target). We coded these combined rules into the referral engine.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166360"/>
            <a:ext cx="5577840" cy="1298448"/>
          </a:xfrm>
          <a:prstGeom prst="rect">
            <a:avLst/>
          </a:prstGeom>
          <a:solidFill>
            <a:srgbClr val="1A283E"/>
          </a:solidFill>
          <a:ln w="6350"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525780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Q: What would you build next?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5678424"/>
            <a:ext cx="5212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BD5E1"/>
                </a:solidFill>
                <a:latin typeface="Calibri"/>
              </a:rPr>
              <a:t>Offline mode (PS2 scope), more regional language support, expanded synthetic test coverage to 100+ cases.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649224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2DFDB"/>
                </a:solidFill>
                <a:latin typeface="Calibri"/>
              </a:rPr>
              <a:t>github.com/CodeMeAbhishek/TETRA010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