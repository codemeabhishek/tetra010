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87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59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MESSAGE: We didn't call any medical API or let an AI estimate a risk number. We went to the source papers, pulled the validated formulas, and hard-coded them. That is what makes this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top to bottom. Emphasize:</a:t>
            </a:r>
          </a:p>
          <a:p>
            <a:r>
              <a:t>1) All 4 engines run in parallel — no blocking.</a:t>
            </a:r>
          </a:p>
          <a:p>
            <a:r>
              <a:t>2) The GOLD arrow: engines produce JSON, AI receives JSON. AI is an explainer, not a calculator.</a:t>
            </a:r>
          </a:p>
          <a:p>
            <a:r>
              <a:t>3) Missing investigations aggregator means the doctor gets ONE list, not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We did the hard manual work of reading these papers and coding their formulas ourselves. That is WHY the system is accurate and auditable — there is no black box API that we're hoping is correct.</a:t>
            </a:r>
          </a:p>
          <a:p>
            <a:r>
              <a:t>The code snippets shown are simplified but accurate excerpts from the actual engine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the visual proof of the manual work.</a:t>
            </a:r>
          </a:p>
          <a:p>
            <a:r>
              <a:t>Point to the KDIGO grid: 'We coded every one of these 15 coloured cells into a Python dict.'</a:t>
            </a:r>
          </a:p>
          <a:p>
            <a:r>
              <a:t>Point to WHO lab chart: 'Each of these coloured numbers is a JSON value that our engine looks up.'</a:t>
            </a:r>
          </a:p>
          <a:p>
            <a:r>
              <a:t>Point to WHO non-lab: 'This is the fallback chart — uses BMI instead of cholesterol. Our system automatically switches to this when cholesterol is missing.'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Emphasize: we never silently substitute a default value for missing data. The system tells the doctor exactly what is missing AND why it matters. The missing investigations list is de-duplicated — if two engines need creatinine, the doctor only sees one 'order creatinine'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about test coverage: 86%. Stroke edge cases are the thinnest area.</a:t>
            </a:r>
          </a:p>
          <a:p>
            <a:r>
              <a:t>AI layer is a graceful enhancement: if the API key is absent, all 4 scoring engines still run and return full structured data — the AI explanation is additive,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order:</a:t>
            </a:r>
          </a:p>
          <a:p>
            <a:r>
              <a:t>1. P03 — walk through all 4 gauges + referral banner</a:t>
            </a:r>
          </a:p>
          <a:p>
            <a:r>
              <a:t>2. P04 — show WHO chart fallback + missing investigations panel</a:t>
            </a:r>
          </a:p>
          <a:p>
            <a:r>
              <a:t>3. P06 — show calm low-risk state (system doesn't just alarm on everyone)</a:t>
            </a:r>
          </a:p>
          <a:p>
            <a:endParaRPr/>
          </a:p>
          <a:p>
            <a:r>
              <a:t>After demo, offer to open GitHub and show /backend/scoring/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03920" y="13716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Diabetes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0" y="22860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Hypertension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32004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CKD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41148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CVD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50292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Stroke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"/>
            <a:ext cx="5303520" cy="384048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Track A  |  HealthTech  |  Problem Statement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TETRA010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2DFDB"/>
                </a:solidFill>
                <a:latin typeface="Calibri"/>
              </a:rPr>
              <a:t>Clinical Decision Support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AI-powered lifestyle disease risk prediction &amp;
early referral assistant for primary care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685800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9688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074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Conditions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968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4074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Scoring 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9688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4074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External medical APIs called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Team — Tetrathon 2026  |  August 1, 2026  |  github.com/CodeMeAbhishek/TETRA010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&amp;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4864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212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Late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77% of lifestyle disease cases in India are only
caught when they have already worsened.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5212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No 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8503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Primary health workers lack tools to screen
systematically — screening is inconsistent.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00600"/>
            <a:ext cx="5212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Incomplete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3951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Rural PHCs often have NO lab results.
System must still give useful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4864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051560"/>
            <a:ext cx="548640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691640"/>
            <a:ext cx="109728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1783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No external medical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1305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We read the original published research papers and WHO/KDIGO guidelines,
extracted every formula and threshold, then coded them directly in Python.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246120"/>
            <a:ext cx="109728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337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Deterministic scoring engines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8503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4 independent engines run the math. Each engine cites its source. The AI layer
only explains results — it never calculates a score.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800600"/>
            <a:ext cx="109728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0" y="4892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Graceful degradation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23951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If lab data is missing, the system automatically uses the non-lab fallback chart
and tells the doctor exactly which test to order — never guesses.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3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3320" y="1005840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  —  Patient Assessment Form (HTML/JS)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481328"/>
            <a:ext cx="0" cy="292608"/>
          </a:xfrm>
          <a:prstGeom prst="line">
            <a:avLst/>
          </a:prstGeom>
          <a:ln w="25400">
            <a:solidFill>
              <a:srgbClr val="00968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03320" y="1773936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FastAPI Backend  —  /analyze  endpoint (Python)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249424"/>
            <a:ext cx="0" cy="292608"/>
          </a:xfrm>
          <a:prstGeom prst="line">
            <a:avLst/>
          </a:prstGeom>
          <a:ln w="25400">
            <a:solidFill>
              <a:srgbClr val="00968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03320" y="2542032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Input Checker  —  identifies which fields are present vs.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3429000"/>
            <a:ext cx="2606040" cy="621792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Diabetes
IDRS formula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3017520"/>
            <a:ext cx="0" cy="411480"/>
          </a:xfrm>
          <a:prstGeom prst="line">
            <a:avLst/>
          </a:prstGeom>
          <a:ln w="19050">
            <a:solidFill>
              <a:srgbClr val="00968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19856" y="3429000"/>
            <a:ext cx="2606040" cy="62179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Blood Pressure
ACC/AHA 2017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3017520"/>
            <a:ext cx="0" cy="411480"/>
          </a:xfrm>
          <a:prstGeom prst="line">
            <a:avLst/>
          </a:prstGeom>
          <a:ln w="19050">
            <a:solidFill>
              <a:srgbClr val="00968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63056" y="3429000"/>
            <a:ext cx="2606040" cy="621792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Heart Risk
WHO CVD charts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3017520"/>
            <a:ext cx="0" cy="411480"/>
          </a:xfrm>
          <a:prstGeom prst="line">
            <a:avLst/>
          </a:prstGeom>
          <a:ln w="19050">
            <a:solidFill>
              <a:srgbClr val="00968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906256" y="3429000"/>
            <a:ext cx="2606040" cy="621792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Kidney Risk
KDIGO 2024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3017520"/>
            <a:ext cx="0" cy="411480"/>
          </a:xfrm>
          <a:prstGeom prst="line">
            <a:avLst/>
          </a:prstGeom>
          <a:ln w="19050">
            <a:solidFill>
              <a:srgbClr val="00968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76656" y="4142232"/>
            <a:ext cx="1083564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142232"/>
            <a:ext cx="0" cy="292608"/>
          </a:xfrm>
          <a:prstGeom prst="line">
            <a:avLst/>
          </a:prstGeom>
          <a:ln w="25400">
            <a:solidFill>
              <a:srgbClr val="00968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03320" y="4343400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Missing Investigations  —  de-duplicates what each engine needs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4818888"/>
            <a:ext cx="0" cy="292608"/>
          </a:xfrm>
          <a:prstGeom prst="line">
            <a:avLst/>
          </a:prstGeom>
          <a:ln w="25400">
            <a:solidFill>
              <a:srgbClr val="00968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703320" y="5074920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Referral Engine  —  REFER / MONITOR / ROUTINE + reason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5586984"/>
            <a:ext cx="0" cy="201168"/>
          </a:xfrm>
          <a:prstGeom prst="line">
            <a:avLst/>
          </a:prstGeom>
          <a:ln w="38100">
            <a:solidFill>
              <a:srgbClr val="F59E0B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54680" y="5568696"/>
            <a:ext cx="5852160" cy="32918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Structured JSON only passed to AI  —  AI never calculates a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6022281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AI Layer (NVIDIA NIM / Claude)  —  explain  |  translate  |  draft referral note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We Built the Scoring Engines  —  No Medical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4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4887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Every formula in this system came from reading the original published research papers, not from calling any third-party medical API.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5760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57607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92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Diabetes Risk  (IDRS)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  <a:latin typeface="Calibri"/>
              </a:rPr>
              <a:t>Source: ICMR-INDIAB study  |  113,043 patients across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 read the research paper and extracted a 4-factor scoring formula:
Age + Waist size + Physical activity + Family history  =  score 0 to 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53949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735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2DFDB"/>
                </a:solidFill>
                <a:latin typeface="Courier New"/>
              </a:rPr>
              <a:t>if waist_cm &gt;= 90: score += 30   # male threshold
if age &gt;= 50:       score += 20
if sedentary:       score += 20
if family_history:  score +=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5760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1828800"/>
            <a:ext cx="5760720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19" y="1892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Heart Risk  (WHO CVD Charts)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3317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  <a:latin typeface="Calibri"/>
              </a:rPr>
              <a:t>Source: WHO South Asia CVD Risk Charts  —  digitised into JSON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26334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 photographed and manually digitised the WHO colour risk table
(800+ cells). System looks up the right cell for each patient.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19" y="3246120"/>
            <a:ext cx="53949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32735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2DFDB"/>
                </a:solidFill>
                <a:latin typeface="Courier New"/>
              </a:rPr>
              <a:t># No API — we digitised the chart ourselves
risk = who_cvd_grid[age_band][sex][sbp_band][cholesterol_band]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60520"/>
            <a:ext cx="5760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160520"/>
            <a:ext cx="576072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Kidney Risk  (KDIGO)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  <a:latin typeface="Calibri"/>
              </a:rPr>
              <a:t>Source: KDIGO 2024 Clinical Practice Guidelines  +  CKD-EPI 2021 formula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6519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 extracted the eGFR formula from the guideline and coded the
colour risk grid (G1-G5 x A1-A3 = 15 cells) directly in Python.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53949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60527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2DFDB"/>
                </a:solidFill>
                <a:latin typeface="Courier New"/>
              </a:rPr>
              <a:t>eGFR = 142 * min(cr/kappa,1)**alpha * max(cr/kappa,1)**-1.200
risk_color = kdigo_grid[g_stage][a_stage]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160520"/>
            <a:ext cx="5760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59" y="4160520"/>
            <a:ext cx="5760720" cy="43891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19" y="4224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Blood Pressure  (ACC/AHA 2017)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4663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  <a:latin typeface="Calibri"/>
              </a:rPr>
              <a:t>Source: 2017 ACC/AHA Hypertension Guideline  +  Stroke protocols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19" y="496519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 read the guideline document and coded every BP threshold,
cross-module rule (e.g. CKD+HTN = stricter target), and stroke protocol.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19" y="5577840"/>
            <a:ext cx="53949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59" y="560527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2DFDB"/>
                </a:solidFill>
                <a:latin typeface="Courier New"/>
              </a:rPr>
              <a:t>if sbp &gt;= 180 or dbp &gt;= 110: category = 'Stage 2 Hypertension'
elif sbp &gt;= 130:             category = 'Stage 1 Hypertension'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Source Charts We Digitised Into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5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303520" cy="534924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KDIGO Kidney Risk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DFDB"/>
                </a:solidFill>
                <a:latin typeface="Calibri"/>
              </a:rPr>
              <a:t>G1-G5 (kidney function) x A1-A3 (protein in urine)  =  risk colour</a:t>
            </a:r>
          </a:p>
        </p:txBody>
      </p:sp>
      <p:pic>
        <p:nvPicPr>
          <p:cNvPr id="8" name="Picture 7" descr="kdigo_heatmap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3080"/>
            <a:ext cx="521208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72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  <a:latin typeface="Calibri"/>
              </a:rPr>
              <a:t>We coded all 15 cells of this grid into Python dict — no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05840"/>
            <a:ext cx="5852160" cy="25603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078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WHO CVD Chart  —  Lab Version (with Cholesterol)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3898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DFDB"/>
                </a:solidFill>
                <a:latin typeface="Calibri"/>
              </a:rPr>
              <a:t>Rows: age  |  Columns: cholesterol + BP  |  Colour: 10-year risk %</a:t>
            </a:r>
          </a:p>
        </p:txBody>
      </p:sp>
      <p:pic>
        <p:nvPicPr>
          <p:cNvPr id="13" name="Picture 12" descr="south-asia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91640"/>
            <a:ext cx="571500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89320" y="3703320"/>
            <a:ext cx="5852160" cy="260604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37764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WHO CVD Chart  —  Non-Lab Version (uses BMI instead)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0873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A580C"/>
                </a:solidFill>
                <a:latin typeface="Calibri"/>
              </a:rPr>
              <a:t>Auto-used when cholesterol lab result is unavailable</a:t>
            </a:r>
          </a:p>
        </p:txBody>
      </p:sp>
      <p:pic>
        <p:nvPicPr>
          <p:cNvPr id="17" name="Picture 16" descr="south-asia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389120"/>
            <a:ext cx="5715000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6199632"/>
            <a:ext cx="11548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F59E0B"/>
                </a:solidFill>
                <a:latin typeface="Calibri"/>
              </a:rPr>
              <a:t>						</a:t>
            </a:r>
            <a:r>
              <a:rPr sz="1100" b="0" i="0" dirty="0">
                <a:solidFill>
                  <a:srgbClr val="F59E0B"/>
                </a:solidFill>
                <a:latin typeface="Calibri"/>
              </a:rPr>
              <a:t>These are the ACTUAL source images. We manually </a:t>
            </a:r>
            <a:r>
              <a:rPr sz="1100" b="0" i="0" dirty="0" err="1">
                <a:solidFill>
                  <a:srgbClr val="F59E0B"/>
                </a:solidFill>
                <a:latin typeface="Calibri"/>
              </a:rPr>
              <a:t>digitised</a:t>
            </a:r>
            <a:r>
              <a:rPr sz="1100" b="0" i="0" dirty="0">
                <a:solidFill>
                  <a:srgbClr val="F59E0B"/>
                </a:solidFill>
                <a:latin typeface="Calibri"/>
              </a:rPr>
              <a:t> them — every number in our JSON data files came from these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Handling Missing Data  —  Graceful Degradation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6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The problem statement explicitly calls out incomplete patient records in rural settings. Here is exactly how we handle it: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572768"/>
            <a:ext cx="2651760" cy="438912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PATIENT ARRIVES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011680"/>
            <a:ext cx="0" cy="274320"/>
          </a:xfrm>
          <a:prstGeom prst="line">
            <a:avLst/>
          </a:prstGeom>
          <a:ln w="25400">
            <a:solidFill>
              <a:srgbClr val="33415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0" y="2286000"/>
            <a:ext cx="3017520" cy="402336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 lab results available?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YES — Cholesterol available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 lab-based WHO-CVD chart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3429000"/>
            <a:ext cx="0" cy="274320"/>
          </a:xfrm>
          <a:prstGeom prst="line">
            <a:avLst/>
          </a:prstGeom>
          <a:ln w="25400">
            <a:solidFill>
              <a:srgbClr val="16A34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" y="43891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High-precision 10-year risk 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4114800"/>
            <a:ext cx="0" cy="274320"/>
          </a:xfrm>
          <a:prstGeom prst="line">
            <a:avLst/>
          </a:prstGeom>
          <a:ln w="25400">
            <a:solidFill>
              <a:srgbClr val="16A34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0" y="30175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 — Cholesterol missing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7033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Auto-switch to BMI-based chart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81160" y="3429000"/>
            <a:ext cx="0" cy="274320"/>
          </a:xfrm>
          <a:prstGeom prst="line">
            <a:avLst/>
          </a:prstGeom>
          <a:ln w="25400">
            <a:solidFill>
              <a:srgbClr val="EA580C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15200" y="43891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 calculated via BMI instead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81160" y="4114800"/>
            <a:ext cx="0" cy="274320"/>
          </a:xfrm>
          <a:prstGeom prst="line">
            <a:avLst/>
          </a:prstGeom>
          <a:ln w="25400">
            <a:solidFill>
              <a:srgbClr val="EA580C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852160" y="3566160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23760" y="4937760"/>
            <a:ext cx="4114800" cy="749808"/>
          </a:xfrm>
          <a:prstGeom prst="rect">
            <a:avLst/>
          </a:prstGeom>
          <a:solidFill>
            <a:srgbClr val="FFEDC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4983480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Flag raised for doctor:
"Lipid panel recommended  —  Source: WHO CVD Guidelines"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577840"/>
            <a:ext cx="11548872" cy="8961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68756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Same logic for kidney tests: if Serum Creatinine is missing -&gt; engine returns partial result + flags "Serum Creatinine required for kidney risk calculation"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 &amp;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7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21440" cy="960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09728" cy="960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35024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 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Backend REST API  —  /analyze endpoint with Pydantic input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30552"/>
            <a:ext cx="11521440" cy="960120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130552"/>
            <a:ext cx="10972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86584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Pure Python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40280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4 scoring engines — zero ML/AI dependencies for the math. 86% unit test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82111"/>
            <a:ext cx="11521440" cy="960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182111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438143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NVIDIA NIM  /  Claude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91839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AI layer: generates the plain-English explanation and referral note only.
Receives structured JSON — never computes a risk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33672"/>
            <a:ext cx="11521440" cy="960120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233672"/>
            <a:ext cx="109728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Vanilla HTML / CSS /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343400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Frontend — no framework. Runs in any browser, works on a tablet.
10-patient demo dropdown built in for live evaluation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285231"/>
            <a:ext cx="11521440" cy="960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285231"/>
            <a:ext cx="109728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541263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Synthetic test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394959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10 clinical edge-case patients (missing labs, elderly, stroke, healthy baseline)
Caught 3 real bugs before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37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2DFDB"/>
                </a:solidFill>
                <a:latin typeface="Calibri"/>
              </a:rPr>
              <a:t>localhost:8081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594360" cy="384048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153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High Risk case — full lab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846320"/>
            <a:ext cx="594360" cy="384048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9011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Missing labs — graceful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532120"/>
            <a:ext cx="594360" cy="384048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5869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Healthy patient — all green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0"/>
            <a:ext cx="606247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74320"/>
            <a:ext cx="5303520" cy="411480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Likely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914400"/>
            <a:ext cx="5577840" cy="1298448"/>
          </a:xfrm>
          <a:prstGeom prst="rect">
            <a:avLst/>
          </a:prstGeom>
          <a:solidFill>
            <a:srgbClr val="1A283E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005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Q: Why not just ask an AI for the risk score?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2646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AI can hallucinate numbers. Our engines use the actual validated formulas — every score is traceable to a specific guideline.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331720"/>
            <a:ext cx="5577840" cy="1298448"/>
          </a:xfrm>
          <a:prstGeom prst="rect">
            <a:avLst/>
          </a:prstGeom>
          <a:solidFill>
            <a:srgbClr val="1A283E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Q: Is this validated on real patients?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4378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The formulas we coded ARE validated — IDRS on 113k patients, WHO/KDIGO by global health bodies. Our implementation tested on 10 synthetic edge-case patients.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49039"/>
            <a:ext cx="5577840" cy="1298448"/>
          </a:xfrm>
          <a:prstGeom prst="rect">
            <a:avLst/>
          </a:prstGeom>
          <a:solidFill>
            <a:srgbClr val="1A283E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Q: What if two conditions give conflicting advice?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61103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The ACC/AHA guideline has cross-condition rules (e.g. CKD + HTN = stricter BP target). We coded these combined rules into the referral engine.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5166360"/>
            <a:ext cx="5577840" cy="1298448"/>
          </a:xfrm>
          <a:prstGeom prst="rect">
            <a:avLst/>
          </a:prstGeom>
          <a:solidFill>
            <a:srgbClr val="1A283E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5257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Q: What would you build next?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67842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Offline mode (PS2 scope), more regional language support, expanded synthetic test coverage to 100+ cases.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64922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DFDB"/>
                </a:solidFill>
                <a:latin typeface="Calibri"/>
              </a:rPr>
              <a:t>github.com/CodeMeAbhishek/TETRA010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1581</Words>
  <Application>Microsoft Office PowerPoint</Application>
  <PresentationFormat>Custom</PresentationFormat>
  <Paragraphs>137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Gupta</cp:lastModifiedBy>
  <cp:revision>2</cp:revision>
  <dcterms:created xsi:type="dcterms:W3CDTF">2013-01-27T09:14:16Z</dcterms:created>
  <dcterms:modified xsi:type="dcterms:W3CDTF">2026-08-01T09:58:12Z</dcterms:modified>
  <cp:category/>
</cp:coreProperties>
</file>